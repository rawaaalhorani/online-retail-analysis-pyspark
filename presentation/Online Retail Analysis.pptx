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F172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F172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F172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0F172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433277"/>
            <a:ext cx="6848475" cy="5928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0F172A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400" y="1732805"/>
            <a:ext cx="5362575" cy="4645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hyperlink" Target="https://png.pngtree.com/thumb_back/fh260/background/20230718/pngtree-digital-retailing-illustration-laptop-keyboard-with-shopping-basket-and-e-commerce-image_3903657.jpg" TargetMode="External"/><Relationship Id="rId7" Type="http://schemas.openxmlformats.org/officeDocument/2006/relationships/hyperlink" Target="https://docs.kanaries.net/_next/image?url=https%3A%2F%2Fdocs-us.oss-us-west-1.aliyuncs.com%2Fimg%2Fblog-cover-images%2Fclustering-visualization.png%3Fx-oss-process%3Dimage%2Fresize%2Climit_0%2Cm_fill%2Cw_1536%2Ch_1024%2Fquality%2Cq_100&amp;w=3840&amp;q=75" TargetMode="External"/><Relationship Id="rId8" Type="http://schemas.openxmlformats.org/officeDocument/2006/relationships/hyperlink" Target="https://s3.mordorintelligence.com/global-business-analytics-market-industry/global-business-analytics-market-industry-Business-Analytics-Market-CAGR--Growth-Rate-by-Region-2" TargetMode="External"/><Relationship Id="rId9" Type="http://schemas.openxmlformats.org/officeDocument/2006/relationships/hyperlink" Target="http://www.mordorintelligence.com/" TargetMode="External"/><Relationship Id="rId10" Type="http://schemas.openxmlformats.org/officeDocument/2006/relationships/hyperlink" Target="https://freerangestock.com/sample/162660/focused-team-analyzing-data-on-laptop.jpg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58800" y="1428199"/>
            <a:ext cx="3985260" cy="163512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4800" spc="-140"/>
              <a:t>Online</a:t>
            </a:r>
            <a:r>
              <a:rPr dirty="0" sz="4800" spc="-585"/>
              <a:t> </a:t>
            </a:r>
            <a:r>
              <a:rPr dirty="0" sz="4800" spc="-225"/>
              <a:t>Retail </a:t>
            </a:r>
            <a:r>
              <a:rPr dirty="0" sz="4800" spc="-10">
                <a:solidFill>
                  <a:srgbClr val="10B981"/>
                </a:solidFill>
              </a:rPr>
              <a:t>Analysis</a:t>
            </a:r>
            <a:endParaRPr sz="4800"/>
          </a:p>
        </p:txBody>
      </p:sp>
      <p:sp>
        <p:nvSpPr>
          <p:cNvPr id="7" name="object 7"/>
          <p:cNvSpPr txBox="1"/>
          <p:nvPr/>
        </p:nvSpPr>
        <p:spPr>
          <a:xfrm>
            <a:off x="558800" y="3048032"/>
            <a:ext cx="4812030" cy="2092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0">
                <a:solidFill>
                  <a:srgbClr val="475568"/>
                </a:solidFill>
                <a:latin typeface="Tahoma"/>
                <a:cs typeface="Tahoma"/>
              </a:rPr>
              <a:t>Leveraging</a:t>
            </a:r>
            <a:r>
              <a:rPr dirty="0" sz="1800" spc="-10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475568"/>
                </a:solidFill>
                <a:latin typeface="Tahoma"/>
                <a:cs typeface="Tahoma"/>
              </a:rPr>
              <a:t>PySpark</a:t>
            </a:r>
            <a:r>
              <a:rPr dirty="0" sz="1800" spc="-10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dirty="0" sz="1800" spc="-10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475568"/>
                </a:solidFill>
                <a:latin typeface="Tahoma"/>
                <a:cs typeface="Tahoma"/>
              </a:rPr>
              <a:t>Large-</a:t>
            </a:r>
            <a:r>
              <a:rPr dirty="0" sz="1800" spc="-20">
                <a:solidFill>
                  <a:srgbClr val="475568"/>
                </a:solidFill>
                <a:latin typeface="Tahoma"/>
                <a:cs typeface="Tahoma"/>
              </a:rPr>
              <a:t>Scale</a:t>
            </a:r>
            <a:endParaRPr sz="1800">
              <a:latin typeface="Tahoma"/>
              <a:cs typeface="Tahoma"/>
            </a:endParaRPr>
          </a:p>
          <a:p>
            <a:pPr marL="56515">
              <a:lnSpc>
                <a:spcPct val="100000"/>
              </a:lnSpc>
              <a:spcBef>
                <a:spcPts val="1295"/>
              </a:spcBef>
            </a:pPr>
            <a:r>
              <a:rPr dirty="0" sz="1800">
                <a:solidFill>
                  <a:srgbClr val="475568"/>
                </a:solidFill>
                <a:latin typeface="Tahoma"/>
                <a:cs typeface="Tahoma"/>
              </a:rPr>
              <a:t>Data</a:t>
            </a:r>
            <a:r>
              <a:rPr dirty="0" sz="180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475568"/>
                </a:solidFill>
                <a:latin typeface="Tahoma"/>
                <a:cs typeface="Tahoma"/>
              </a:rPr>
              <a:t>Processing</a:t>
            </a:r>
            <a:r>
              <a:rPr dirty="0" sz="180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475568"/>
                </a:solidFill>
                <a:latin typeface="Tahoma"/>
                <a:cs typeface="Tahoma"/>
              </a:rPr>
              <a:t>&amp;</a:t>
            </a:r>
            <a:r>
              <a:rPr dirty="0" sz="180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475568"/>
                </a:solidFill>
                <a:latin typeface="Tahoma"/>
                <a:cs typeface="Tahoma"/>
              </a:rPr>
              <a:t>Insights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35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350" spc="-75" b="1">
                <a:solidFill>
                  <a:srgbClr val="475568"/>
                </a:solidFill>
                <a:latin typeface="Tahoma"/>
                <a:cs typeface="Tahoma"/>
              </a:rPr>
              <a:t>Prepared</a:t>
            </a:r>
            <a:r>
              <a:rPr dirty="0" sz="1350" spc="-95" b="1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5" b="1">
                <a:solidFill>
                  <a:srgbClr val="475568"/>
                </a:solidFill>
                <a:latin typeface="Tahoma"/>
                <a:cs typeface="Tahoma"/>
              </a:rPr>
              <a:t>By: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ts val="2590"/>
              </a:lnSpc>
              <a:spcBef>
                <a:spcPts val="50"/>
              </a:spcBef>
            </a:pPr>
            <a:r>
              <a:rPr dirty="0" sz="1350" spc="-65" b="1">
                <a:solidFill>
                  <a:srgbClr val="10B981"/>
                </a:solidFill>
                <a:latin typeface="Tahoma"/>
                <a:cs typeface="Tahoma"/>
              </a:rPr>
              <a:t>Al-</a:t>
            </a:r>
            <a:r>
              <a:rPr dirty="0" sz="1350" spc="-114" b="1">
                <a:solidFill>
                  <a:srgbClr val="10B981"/>
                </a:solidFill>
                <a:latin typeface="Tahoma"/>
                <a:cs typeface="Tahoma"/>
              </a:rPr>
              <a:t>Ghawamneh,</a:t>
            </a:r>
            <a:r>
              <a:rPr dirty="0" sz="1350" spc="-55" b="1">
                <a:solidFill>
                  <a:srgbClr val="10B981"/>
                </a:solidFill>
                <a:latin typeface="Tahoma"/>
                <a:cs typeface="Tahoma"/>
              </a:rPr>
              <a:t> Al-</a:t>
            </a:r>
            <a:r>
              <a:rPr dirty="0" sz="1350" spc="-90" b="1">
                <a:solidFill>
                  <a:srgbClr val="10B981"/>
                </a:solidFill>
                <a:latin typeface="Tahoma"/>
                <a:cs typeface="Tahoma"/>
              </a:rPr>
              <a:t>Hourani,</a:t>
            </a:r>
            <a:r>
              <a:rPr dirty="0" sz="1350" spc="-50" b="1">
                <a:solidFill>
                  <a:srgbClr val="10B981"/>
                </a:solidFill>
                <a:latin typeface="Tahoma"/>
                <a:cs typeface="Tahoma"/>
              </a:rPr>
              <a:t> </a:t>
            </a:r>
            <a:r>
              <a:rPr dirty="0" sz="1350" spc="-65" b="1">
                <a:solidFill>
                  <a:srgbClr val="10B981"/>
                </a:solidFill>
                <a:latin typeface="Tahoma"/>
                <a:cs typeface="Tahoma"/>
              </a:rPr>
              <a:t>Al-</a:t>
            </a:r>
            <a:r>
              <a:rPr dirty="0" sz="1350" spc="-95" b="1">
                <a:solidFill>
                  <a:srgbClr val="10B981"/>
                </a:solidFill>
                <a:latin typeface="Tahoma"/>
                <a:cs typeface="Tahoma"/>
              </a:rPr>
              <a:t>Azzam,</a:t>
            </a:r>
            <a:r>
              <a:rPr dirty="0" sz="1350" spc="-50" b="1">
                <a:solidFill>
                  <a:srgbClr val="10B981"/>
                </a:solidFill>
                <a:latin typeface="Tahoma"/>
                <a:cs typeface="Tahoma"/>
              </a:rPr>
              <a:t> </a:t>
            </a:r>
            <a:r>
              <a:rPr dirty="0" sz="1350" spc="-95" b="1">
                <a:solidFill>
                  <a:srgbClr val="10B981"/>
                </a:solidFill>
                <a:latin typeface="Tahoma"/>
                <a:cs typeface="Tahoma"/>
              </a:rPr>
              <a:t>Nwarseh,</a:t>
            </a:r>
            <a:r>
              <a:rPr dirty="0" sz="1350" spc="-55" b="1">
                <a:solidFill>
                  <a:srgbClr val="10B981"/>
                </a:solidFill>
                <a:latin typeface="Tahoma"/>
                <a:cs typeface="Tahoma"/>
              </a:rPr>
              <a:t> </a:t>
            </a:r>
            <a:r>
              <a:rPr dirty="0" sz="1350" spc="-75" b="1">
                <a:solidFill>
                  <a:srgbClr val="10B981"/>
                </a:solidFill>
                <a:latin typeface="Tahoma"/>
                <a:cs typeface="Tahoma"/>
              </a:rPr>
              <a:t>Al-</a:t>
            </a:r>
            <a:r>
              <a:rPr dirty="0" sz="1350" spc="-70" b="1">
                <a:solidFill>
                  <a:srgbClr val="10B981"/>
                </a:solidFill>
                <a:latin typeface="Tahoma"/>
                <a:cs typeface="Tahoma"/>
              </a:rPr>
              <a:t>Ghazaawi, </a:t>
            </a:r>
            <a:r>
              <a:rPr dirty="0" sz="1350" spc="-10" b="1">
                <a:solidFill>
                  <a:srgbClr val="10B981"/>
                </a:solidFill>
                <a:latin typeface="Tahoma"/>
                <a:cs typeface="Tahoma"/>
              </a:rPr>
              <a:t>Obeidat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6122200" y="1047749"/>
            <a:ext cx="5857875" cy="4762500"/>
            <a:chOff x="6122200" y="1047749"/>
            <a:chExt cx="5857875" cy="4762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4125" y="1047750"/>
              <a:ext cx="5286374" cy="47624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4125" y="1047750"/>
              <a:ext cx="1600199" cy="1809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2200" y="1047749"/>
              <a:ext cx="5857873" cy="42718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9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/>
              <a:t>Executive</a:t>
            </a:r>
            <a:r>
              <a:rPr dirty="0" spc="-310"/>
              <a:t> </a:t>
            </a:r>
            <a:r>
              <a:rPr dirty="0" spc="-10"/>
              <a:t>Summary</a:t>
            </a:r>
          </a:p>
        </p:txBody>
      </p:sp>
      <p:sp>
        <p:nvSpPr>
          <p:cNvPr id="6" name="object 6"/>
          <p:cNvSpPr/>
          <p:nvPr/>
        </p:nvSpPr>
        <p:spPr>
          <a:xfrm>
            <a:off x="571500" y="1238250"/>
            <a:ext cx="11049000" cy="38100"/>
          </a:xfrm>
          <a:custGeom>
            <a:avLst/>
            <a:gdLst/>
            <a:ahLst/>
            <a:cxnLst/>
            <a:rect l="l" t="t" r="r" b="b"/>
            <a:pathLst>
              <a:path w="11049000" h="38100">
                <a:moveTo>
                  <a:pt x="11048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38099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58800" y="2254856"/>
            <a:ext cx="5306060" cy="3199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0">
                <a:solidFill>
                  <a:srgbClr val="0F172A"/>
                </a:solidFill>
                <a:latin typeface="Arial Black"/>
                <a:cs typeface="Arial Black"/>
              </a:rPr>
              <a:t>Project</a:t>
            </a:r>
            <a:r>
              <a:rPr dirty="0" sz="1400" spc="-11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F172A"/>
                </a:solidFill>
                <a:latin typeface="Arial Black"/>
                <a:cs typeface="Arial Black"/>
              </a:rPr>
              <a:t>Objectives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69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This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project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leverages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the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power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of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PySpark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to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analyze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high-volume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online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retail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transactions.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60">
                <a:solidFill>
                  <a:srgbClr val="475568"/>
                </a:solidFill>
                <a:latin typeface="Tahoma"/>
                <a:cs typeface="Tahoma"/>
              </a:rPr>
              <a:t>We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focus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on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identifying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customer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purchasing </a:t>
            </a:r>
            <a:r>
              <a:rPr dirty="0" sz="1350" spc="-25">
                <a:solidFill>
                  <a:srgbClr val="475568"/>
                </a:solidFill>
                <a:latin typeface="Tahoma"/>
                <a:cs typeface="Tahoma"/>
              </a:rPr>
              <a:t>behavior,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sales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performance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across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75568"/>
                </a:solidFill>
                <a:latin typeface="Tahoma"/>
                <a:cs typeface="Tahoma"/>
              </a:rPr>
              <a:t>regions,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product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popularity trends.</a:t>
            </a:r>
            <a:endParaRPr sz="1350">
              <a:latin typeface="Tahoma"/>
              <a:cs typeface="Tahoma"/>
            </a:endParaRPr>
          </a:p>
          <a:p>
            <a:pPr marL="346075">
              <a:lnSpc>
                <a:spcPct val="100000"/>
              </a:lnSpc>
              <a:spcBef>
                <a:spcPts val="590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Analyze</a:t>
            </a:r>
            <a:r>
              <a:rPr dirty="0" sz="1350" spc="-10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475568"/>
                </a:solidFill>
                <a:latin typeface="Tahoma"/>
                <a:cs typeface="Tahoma"/>
              </a:rPr>
              <a:t>sales,</a:t>
            </a:r>
            <a:r>
              <a:rPr dirty="0" sz="1350" spc="-9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75568"/>
                </a:solidFill>
                <a:latin typeface="Tahoma"/>
                <a:cs typeface="Tahoma"/>
              </a:rPr>
              <a:t>customer,</a:t>
            </a:r>
            <a:r>
              <a:rPr dirty="0" sz="1350" spc="-9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dirty="0" sz="1350" spc="-9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product</a:t>
            </a:r>
            <a:r>
              <a:rPr dirty="0" sz="1350" spc="-9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datasets.</a:t>
            </a:r>
            <a:endParaRPr sz="1350">
              <a:latin typeface="Tahoma"/>
              <a:cs typeface="Tahoma"/>
            </a:endParaRPr>
          </a:p>
          <a:p>
            <a:pPr marL="346075" marR="1655445">
              <a:lnSpc>
                <a:spcPct val="202800"/>
              </a:lnSpc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Clean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preprocess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raw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e-commerce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data.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Identify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geographical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purchasing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patterns.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ahoma"/>
              <a:cs typeface="Tahoma"/>
            </a:endParaRPr>
          </a:p>
          <a:p>
            <a:pPr marL="346075">
              <a:lnSpc>
                <a:spcPct val="100000"/>
              </a:lnSpc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Optimize</a:t>
            </a:r>
            <a:r>
              <a:rPr dirty="0" sz="1350" spc="-8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data</a:t>
            </a:r>
            <a:r>
              <a:rPr dirty="0" sz="1350" spc="-8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dirty="0" sz="1350" spc="-8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business</a:t>
            </a:r>
            <a:r>
              <a:rPr dirty="0" sz="1350" spc="-8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intelligence.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3990975"/>
            <a:ext cx="228599" cy="247649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25" y="2274689"/>
            <a:ext cx="5286374" cy="247828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702425" y="2635856"/>
            <a:ext cx="4488815" cy="1666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10B981"/>
                </a:solidFill>
                <a:latin typeface="Arial Black"/>
                <a:cs typeface="Arial Black"/>
              </a:rPr>
              <a:t>Why</a:t>
            </a:r>
            <a:r>
              <a:rPr dirty="0" sz="1400" spc="-75">
                <a:solidFill>
                  <a:srgbClr val="10B981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0B981"/>
                </a:solidFill>
                <a:latin typeface="Arial Black"/>
                <a:cs typeface="Arial Black"/>
              </a:rPr>
              <a:t>PySpark?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69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PySpark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was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selected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its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ability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to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process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large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datasets </a:t>
            </a:r>
            <a:r>
              <a:rPr dirty="0" sz="1350" spc="-30">
                <a:solidFill>
                  <a:srgbClr val="475568"/>
                </a:solidFill>
                <a:latin typeface="Tahoma"/>
                <a:cs typeface="Tahoma"/>
              </a:rPr>
              <a:t>(541,909+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rows)</a:t>
            </a:r>
            <a:r>
              <a:rPr dirty="0" sz="1350" spc="-7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efficiently</a:t>
            </a:r>
            <a:r>
              <a:rPr dirty="0" sz="1350" spc="-7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using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distributed</a:t>
            </a:r>
            <a:r>
              <a:rPr dirty="0" sz="1350" spc="-7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computing.</a:t>
            </a:r>
            <a:r>
              <a:rPr dirty="0" sz="1350" spc="-7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75568"/>
                </a:solidFill>
                <a:latin typeface="Tahoma"/>
                <a:cs typeface="Tahoma"/>
              </a:rPr>
              <a:t>It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provides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475568"/>
                </a:solidFill>
                <a:latin typeface="Tahoma"/>
                <a:cs typeface="Tahoma"/>
              </a:rPr>
              <a:t>a</a:t>
            </a:r>
            <a:r>
              <a:rPr dirty="0" sz="1350" spc="-10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robust</a:t>
            </a:r>
            <a:r>
              <a:rPr dirty="0" sz="1350" spc="-10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framework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dirty="0" sz="1350" spc="-10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complex</a:t>
            </a:r>
            <a:r>
              <a:rPr dirty="0" sz="1350" spc="-10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data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manipulation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dirty="0" sz="1350" spc="-15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scalable</a:t>
            </a:r>
            <a:r>
              <a:rPr dirty="0" sz="1350" spc="-15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cleaning</a:t>
            </a:r>
            <a:r>
              <a:rPr dirty="0" sz="1350" spc="-15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operations.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4408140"/>
            <a:ext cx="228599" cy="2476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4825305"/>
            <a:ext cx="228599" cy="2476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5242470"/>
            <a:ext cx="228599" cy="2476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558800" y="543559"/>
            <a:ext cx="568833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0"/>
              <a:t>Tooling</a:t>
            </a:r>
            <a:r>
              <a:rPr dirty="0" spc="-310"/>
              <a:t> </a:t>
            </a:r>
            <a:r>
              <a:rPr dirty="0" spc="-295"/>
              <a:t>&amp;</a:t>
            </a:r>
            <a:r>
              <a:rPr dirty="0" spc="-310"/>
              <a:t> </a:t>
            </a:r>
            <a:r>
              <a:rPr dirty="0" spc="-85"/>
              <a:t>Environment</a:t>
            </a:r>
            <a:r>
              <a:rPr dirty="0" spc="-310"/>
              <a:t> </a:t>
            </a:r>
            <a:r>
              <a:rPr dirty="0" spc="-65"/>
              <a:t>Setup</a:t>
            </a:r>
          </a:p>
        </p:txBody>
      </p:sp>
      <p:sp>
        <p:nvSpPr>
          <p:cNvPr id="7" name="object 7"/>
          <p:cNvSpPr/>
          <p:nvPr/>
        </p:nvSpPr>
        <p:spPr>
          <a:xfrm>
            <a:off x="571500" y="1238250"/>
            <a:ext cx="11049000" cy="38100"/>
          </a:xfrm>
          <a:custGeom>
            <a:avLst/>
            <a:gdLst/>
            <a:ahLst/>
            <a:cxnLst/>
            <a:rect l="l" t="t" r="r" b="b"/>
            <a:pathLst>
              <a:path w="11049000" h="38100">
                <a:moveTo>
                  <a:pt x="11048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38099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066925"/>
            <a:ext cx="5286374" cy="3809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21425" y="2455774"/>
            <a:ext cx="4924425" cy="10083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60">
                <a:solidFill>
                  <a:srgbClr val="0F172A"/>
                </a:solidFill>
                <a:latin typeface="Arial Black"/>
                <a:cs typeface="Arial Black"/>
              </a:rPr>
              <a:t>Initial</a:t>
            </a:r>
            <a:r>
              <a:rPr dirty="0" sz="1400" spc="-114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F172A"/>
                </a:solidFill>
                <a:latin typeface="Arial Black"/>
                <a:cs typeface="Arial Black"/>
              </a:rPr>
              <a:t>Environment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69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The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project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starts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by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initializing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475568"/>
                </a:solidFill>
                <a:latin typeface="Tahoma"/>
                <a:cs typeface="Tahoma"/>
              </a:rPr>
              <a:t>a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Spark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30">
                <a:solidFill>
                  <a:srgbClr val="475568"/>
                </a:solidFill>
                <a:latin typeface="Tahoma"/>
                <a:cs typeface="Tahoma"/>
              </a:rPr>
              <a:t>Session,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the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entry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point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75568"/>
                </a:solidFill>
                <a:latin typeface="Tahoma"/>
                <a:cs typeface="Tahoma"/>
              </a:rPr>
              <a:t>to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Spark</a:t>
            </a:r>
            <a:r>
              <a:rPr dirty="0" sz="1350" spc="-16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functionality.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4125" y="3643312"/>
            <a:ext cx="5286374" cy="8953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321425" y="4709604"/>
            <a:ext cx="4741545" cy="560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Libraries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used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include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pyspark.sql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dataframe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operations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pyspark.sql.functions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advanced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data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cleaning.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Dataset</a:t>
            </a:r>
            <a:r>
              <a:rPr dirty="0" spc="-315"/>
              <a:t> </a:t>
            </a:r>
            <a:r>
              <a:rPr dirty="0" spc="-95"/>
              <a:t>Schema</a:t>
            </a:r>
            <a:r>
              <a:rPr dirty="0" spc="-315"/>
              <a:t> </a:t>
            </a:r>
            <a:r>
              <a:rPr dirty="0" spc="-85"/>
              <a:t>Overview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127967"/>
            <a:ext cx="11049000" cy="38100"/>
          </a:xfrm>
          <a:custGeom>
            <a:avLst/>
            <a:gdLst/>
            <a:ahLst/>
            <a:cxnLst/>
            <a:rect l="l" t="t" r="r" b="b"/>
            <a:pathLst>
              <a:path w="11049000" h="38100">
                <a:moveTo>
                  <a:pt x="11048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38099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71500" y="1732805"/>
          <a:ext cx="5362575" cy="4645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94230"/>
                <a:gridCol w="3192780"/>
              </a:tblGrid>
              <a:tr h="51752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350" spc="-9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Column </a:t>
                      </a:r>
                      <a:r>
                        <a:rPr dirty="0" sz="135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49225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950594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350" spc="-8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Data</a:t>
                      </a:r>
                      <a:r>
                        <a:rPr dirty="0" sz="1350" spc="-10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35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Type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49225">
                    <a:solidFill>
                      <a:srgbClr val="0F172A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InvoiceNo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49225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950594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String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49225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</a:tr>
              <a:tr h="511809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StockCode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1285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950594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String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1285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511809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Description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700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950594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String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2700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</a:tr>
              <a:tr h="511809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Quantity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208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950594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Integer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208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  <a:tr h="511809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InvoiceDate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16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950594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String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37160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</a:tr>
              <a:tr h="511175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UnitPrice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4224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950594">
                        <a:lnSpc>
                          <a:spcPct val="100000"/>
                        </a:lnSpc>
                        <a:spcBef>
                          <a:spcPts val="1120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Double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42240">
                    <a:lnT w="9525">
                      <a:solidFill>
                        <a:srgbClr val="E1E7F0"/>
                      </a:solidFill>
                      <a:prstDash val="solid"/>
                    </a:lnT>
                    <a:solidFill>
                      <a:srgbClr val="F7FAFC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CustomerID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49225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  <a:tc>
                  <a:txBody>
                    <a:bodyPr/>
                    <a:lstStyle/>
                    <a:p>
                      <a:pPr marL="950594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Integer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49225"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CED7E7"/>
                    </a:solidFill>
                  </a:tcPr>
                </a:tc>
              </a:tr>
              <a:tr h="511809"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Country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53035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marL="950594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dirty="0" sz="1350" spc="-10">
                          <a:solidFill>
                            <a:srgbClr val="475568"/>
                          </a:solidFill>
                          <a:latin typeface="Tahoma"/>
                          <a:cs typeface="Tahoma"/>
                        </a:rPr>
                        <a:t>String</a:t>
                      </a:r>
                      <a:endParaRPr sz="1350">
                        <a:latin typeface="Tahoma"/>
                        <a:cs typeface="Tahoma"/>
                      </a:endParaRPr>
                    </a:p>
                  </a:txBody>
                  <a:tcPr marL="0" marR="0" marB="0" marT="153035">
                    <a:lnT w="9525">
                      <a:solidFill>
                        <a:srgbClr val="E1E7F0"/>
                      </a:solidFill>
                      <a:prstDash val="solid"/>
                    </a:lnT>
                    <a:lnB w="9525">
                      <a:solidFill>
                        <a:srgbClr val="E1E7F0"/>
                      </a:solidFill>
                      <a:prstDash val="soli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321425" y="1527235"/>
            <a:ext cx="5231130" cy="1911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85">
                <a:solidFill>
                  <a:srgbClr val="0F172A"/>
                </a:solidFill>
                <a:latin typeface="Arial Black"/>
                <a:cs typeface="Arial Black"/>
              </a:rPr>
              <a:t>Key</a:t>
            </a:r>
            <a:r>
              <a:rPr dirty="0" sz="1400" spc="-155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F172A"/>
                </a:solidFill>
                <a:latin typeface="Arial Black"/>
                <a:cs typeface="Arial Black"/>
              </a:rPr>
              <a:t>Observations</a:t>
            </a:r>
            <a:endParaRPr sz="1400">
              <a:latin typeface="Arial Black"/>
              <a:cs typeface="Arial Black"/>
            </a:endParaRPr>
          </a:p>
          <a:p>
            <a:pPr marL="346075">
              <a:lnSpc>
                <a:spcPct val="100000"/>
              </a:lnSpc>
              <a:spcBef>
                <a:spcPts val="1689"/>
              </a:spcBef>
            </a:pPr>
            <a:r>
              <a:rPr dirty="0" sz="1350" spc="-114" b="1">
                <a:solidFill>
                  <a:srgbClr val="475568"/>
                </a:solidFill>
                <a:latin typeface="Tahoma"/>
                <a:cs typeface="Tahoma"/>
              </a:rPr>
              <a:t>Rows:</a:t>
            </a:r>
            <a:r>
              <a:rPr dirty="0" sz="1350" spc="-110" b="1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541,909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ahoma"/>
              <a:cs typeface="Tahoma"/>
            </a:endParaRPr>
          </a:p>
          <a:p>
            <a:pPr marL="346075">
              <a:lnSpc>
                <a:spcPct val="100000"/>
              </a:lnSpc>
            </a:pPr>
            <a:r>
              <a:rPr dirty="0" sz="1350" spc="-95" b="1">
                <a:solidFill>
                  <a:srgbClr val="475568"/>
                </a:solidFill>
                <a:latin typeface="Tahoma"/>
                <a:cs typeface="Tahoma"/>
              </a:rPr>
              <a:t>Columns:</a:t>
            </a:r>
            <a:r>
              <a:rPr dirty="0" sz="1350" spc="-45" b="1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8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Core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features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ahoma"/>
              <a:cs typeface="Tahoma"/>
            </a:endParaRPr>
          </a:p>
          <a:p>
            <a:pPr marL="346075">
              <a:lnSpc>
                <a:spcPct val="100000"/>
              </a:lnSpc>
            </a:pPr>
            <a:r>
              <a:rPr dirty="0" sz="1350" spc="-80" b="1">
                <a:solidFill>
                  <a:srgbClr val="475568"/>
                </a:solidFill>
                <a:latin typeface="Tahoma"/>
                <a:cs typeface="Tahoma"/>
              </a:rPr>
              <a:t>Primary</a:t>
            </a:r>
            <a:r>
              <a:rPr dirty="0" sz="1350" spc="-75" b="1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90" b="1">
                <a:solidFill>
                  <a:srgbClr val="475568"/>
                </a:solidFill>
                <a:latin typeface="Tahoma"/>
                <a:cs typeface="Tahoma"/>
              </a:rPr>
              <a:t>Key:</a:t>
            </a:r>
            <a:r>
              <a:rPr dirty="0" sz="1350" spc="-60" b="1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InvoiceNo</a:t>
            </a:r>
            <a:r>
              <a:rPr dirty="0" sz="1350" spc="-9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&amp;</a:t>
            </a:r>
            <a:r>
              <a:rPr dirty="0" sz="1350" spc="-9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StockCode</a:t>
            </a:r>
            <a:r>
              <a:rPr dirty="0" sz="1350" spc="-9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combined.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ahoma"/>
              <a:cs typeface="Tahoma"/>
            </a:endParaRPr>
          </a:p>
          <a:p>
            <a:pPr marL="346075">
              <a:lnSpc>
                <a:spcPct val="100000"/>
              </a:lnSpc>
            </a:pPr>
            <a:r>
              <a:rPr dirty="0" sz="1350" spc="-70" b="1">
                <a:solidFill>
                  <a:srgbClr val="475568"/>
                </a:solidFill>
                <a:latin typeface="Tahoma"/>
                <a:cs typeface="Tahoma"/>
              </a:rPr>
              <a:t>Global</a:t>
            </a:r>
            <a:r>
              <a:rPr dirty="0" sz="1350" spc="-75" b="1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5" b="1">
                <a:solidFill>
                  <a:srgbClr val="475568"/>
                </a:solidFill>
                <a:latin typeface="Tahoma"/>
                <a:cs typeface="Tahoma"/>
              </a:rPr>
              <a:t>Scope:</a:t>
            </a:r>
            <a:r>
              <a:rPr dirty="0" sz="1350" spc="-75" b="1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Transactions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across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multiple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international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markets.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25" y="1975692"/>
            <a:ext cx="228599" cy="2476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25" y="2392858"/>
            <a:ext cx="228599" cy="2476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25" y="2810023"/>
            <a:ext cx="228599" cy="2476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25" y="3227189"/>
            <a:ext cx="228599" cy="2476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9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Cleaning</a:t>
            </a:r>
            <a:r>
              <a:rPr dirty="0" spc="-330"/>
              <a:t> </a:t>
            </a:r>
            <a:r>
              <a:rPr dirty="0" spc="-295"/>
              <a:t>&amp;</a:t>
            </a:r>
            <a:r>
              <a:rPr dirty="0" spc="-330"/>
              <a:t> </a:t>
            </a:r>
            <a:r>
              <a:rPr dirty="0" spc="-75"/>
              <a:t>Quality</a:t>
            </a:r>
            <a:r>
              <a:rPr dirty="0" spc="-325"/>
              <a:t> </a:t>
            </a:r>
            <a:r>
              <a:rPr dirty="0" spc="-60"/>
              <a:t>Assurance</a:t>
            </a:r>
          </a:p>
        </p:txBody>
      </p:sp>
      <p:sp>
        <p:nvSpPr>
          <p:cNvPr id="15" name="object 15"/>
          <p:cNvSpPr/>
          <p:nvPr/>
        </p:nvSpPr>
        <p:spPr>
          <a:xfrm>
            <a:off x="571500" y="1238250"/>
            <a:ext cx="11049000" cy="38100"/>
          </a:xfrm>
          <a:custGeom>
            <a:avLst/>
            <a:gdLst/>
            <a:ahLst/>
            <a:cxnLst/>
            <a:rect l="l" t="t" r="r" b="b"/>
            <a:pathLst>
              <a:path w="11049000" h="38100">
                <a:moveTo>
                  <a:pt x="11048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38099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1812" y="1749772"/>
            <a:ext cx="2905124" cy="1628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62833" y="2001866"/>
            <a:ext cx="2122805" cy="1090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1440">
              <a:lnSpc>
                <a:spcPts val="7070"/>
              </a:lnSpc>
              <a:spcBef>
                <a:spcPts val="100"/>
              </a:spcBef>
            </a:pPr>
            <a:r>
              <a:rPr dirty="0" sz="6000" spc="-425" b="1">
                <a:solidFill>
                  <a:srgbClr val="10B981"/>
                </a:solidFill>
                <a:latin typeface="Tahoma"/>
                <a:cs typeface="Tahoma"/>
              </a:rPr>
              <a:t>5,268</a:t>
            </a:r>
            <a:endParaRPr sz="6000">
              <a:latin typeface="Tahoma"/>
              <a:cs typeface="Tahoma"/>
            </a:endParaRPr>
          </a:p>
          <a:p>
            <a:pPr marL="12700">
              <a:lnSpc>
                <a:spcPts val="1310"/>
              </a:lnSpc>
            </a:pPr>
            <a:r>
              <a:rPr dirty="0" sz="1200" spc="-65" b="1">
                <a:solidFill>
                  <a:srgbClr val="1E293B"/>
                </a:solidFill>
                <a:latin typeface="Tahoma"/>
                <a:cs typeface="Tahoma"/>
              </a:rPr>
              <a:t>DUPLICATE</a:t>
            </a:r>
            <a:r>
              <a:rPr dirty="0" sz="1200" spc="-75" b="1">
                <a:solidFill>
                  <a:srgbClr val="1E293B"/>
                </a:solidFill>
                <a:latin typeface="Tahoma"/>
                <a:cs typeface="Tahoma"/>
              </a:rPr>
              <a:t> </a:t>
            </a:r>
            <a:r>
              <a:rPr dirty="0" sz="1200" spc="-65" b="1">
                <a:solidFill>
                  <a:srgbClr val="1E293B"/>
                </a:solidFill>
                <a:latin typeface="Tahoma"/>
                <a:cs typeface="Tahoma"/>
              </a:rPr>
              <a:t>ROWS</a:t>
            </a:r>
            <a:r>
              <a:rPr dirty="0" sz="1200" spc="-70" b="1">
                <a:solidFill>
                  <a:srgbClr val="1E293B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1E293B"/>
                </a:solidFill>
                <a:latin typeface="Tahoma"/>
                <a:cs typeface="Tahoma"/>
              </a:rPr>
              <a:t>REMOVED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7937" y="1749772"/>
            <a:ext cx="2762249" cy="1628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53301" y="2001866"/>
            <a:ext cx="177038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365" b="1">
                <a:solidFill>
                  <a:srgbClr val="10B981"/>
                </a:solidFill>
                <a:latin typeface="Tahoma"/>
                <a:cs typeface="Tahoma"/>
              </a:rPr>
              <a:t>135k</a:t>
            </a:r>
            <a:endParaRPr sz="60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3759547"/>
            <a:ext cx="5381624" cy="24345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38875" y="3759547"/>
            <a:ext cx="5381624" cy="243452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505382" y="2916266"/>
            <a:ext cx="467359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525" b="1">
                <a:solidFill>
                  <a:srgbClr val="10B981"/>
                </a:solidFill>
                <a:latin typeface="Tahoma"/>
                <a:cs typeface="Tahoma"/>
              </a:rPr>
              <a:t>+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17063" y="2883501"/>
            <a:ext cx="14433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5" b="1">
                <a:solidFill>
                  <a:srgbClr val="1E293B"/>
                </a:solidFill>
                <a:latin typeface="Tahoma"/>
                <a:cs typeface="Tahoma"/>
              </a:rPr>
              <a:t>NULL</a:t>
            </a:r>
            <a:r>
              <a:rPr dirty="0" sz="1200" spc="-95" b="1">
                <a:solidFill>
                  <a:srgbClr val="1E293B"/>
                </a:solidFill>
                <a:latin typeface="Tahoma"/>
                <a:cs typeface="Tahoma"/>
              </a:rPr>
              <a:t> </a:t>
            </a:r>
            <a:r>
              <a:rPr dirty="0" sz="1200" spc="-125" b="1">
                <a:solidFill>
                  <a:srgbClr val="1E293B"/>
                </a:solidFill>
                <a:latin typeface="Tahoma"/>
                <a:cs typeface="Tahoma"/>
              </a:rPr>
              <a:t>IDS</a:t>
            </a:r>
            <a:r>
              <a:rPr dirty="0" sz="1200" spc="-95" b="1">
                <a:solidFill>
                  <a:srgbClr val="1E293B"/>
                </a:solidFill>
                <a:latin typeface="Tahoma"/>
                <a:cs typeface="Tahoma"/>
              </a:rPr>
              <a:t> </a:t>
            </a:r>
            <a:r>
              <a:rPr dirty="0" sz="1200" spc="-10" b="1">
                <a:solidFill>
                  <a:srgbClr val="1E293B"/>
                </a:solidFill>
                <a:latin typeface="Tahoma"/>
                <a:cs typeface="Tahoma"/>
              </a:rPr>
              <a:t>HANDLED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6775" y="4092922"/>
            <a:ext cx="333374" cy="3809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34150" y="4092922"/>
            <a:ext cx="380999" cy="3809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54075" y="4642578"/>
            <a:ext cx="4762500" cy="1067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0F172A"/>
                </a:solidFill>
                <a:latin typeface="Arial Black"/>
                <a:cs typeface="Arial Black"/>
              </a:rPr>
              <a:t>Redundancy</a:t>
            </a:r>
            <a:r>
              <a:rPr dirty="0" sz="1800" spc="-135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0F172A"/>
                </a:solidFill>
                <a:latin typeface="Arial Black"/>
                <a:cs typeface="Arial Black"/>
              </a:rPr>
              <a:t>Removal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60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Duplicate</a:t>
            </a:r>
            <a:r>
              <a:rPr dirty="0" sz="1350" spc="-8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records</a:t>
            </a:r>
            <a:r>
              <a:rPr dirty="0" sz="1350" spc="-8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were</a:t>
            </a:r>
            <a:r>
              <a:rPr dirty="0" sz="1350" spc="-8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filtered</a:t>
            </a:r>
            <a:r>
              <a:rPr dirty="0" sz="1350" spc="-8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out</a:t>
            </a:r>
            <a:r>
              <a:rPr dirty="0" sz="1350" spc="-8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using</a:t>
            </a:r>
            <a:r>
              <a:rPr dirty="0" sz="1350" spc="-8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dropDuplicates()</a:t>
            </a:r>
            <a:r>
              <a:rPr dirty="0" sz="1350" spc="-8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75568"/>
                </a:solidFill>
                <a:latin typeface="Tahoma"/>
                <a:cs typeface="Tahoma"/>
              </a:rPr>
              <a:t>to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ensure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every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transaction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is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unique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prevents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skewed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results.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21450" y="4642578"/>
            <a:ext cx="4746625" cy="1067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>
                <a:solidFill>
                  <a:srgbClr val="0F172A"/>
                </a:solidFill>
                <a:latin typeface="Arial Black"/>
                <a:cs typeface="Arial Black"/>
              </a:rPr>
              <a:t>Null</a:t>
            </a:r>
            <a:r>
              <a:rPr dirty="0" sz="1800" spc="-195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0F172A"/>
                </a:solidFill>
                <a:latin typeface="Arial Black"/>
                <a:cs typeface="Arial Black"/>
              </a:rPr>
              <a:t>Verification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60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CustomerID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Description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columns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were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checked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missing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values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to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maintain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data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integrity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customer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profiling.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9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Feature</a:t>
            </a:r>
            <a:r>
              <a:rPr dirty="0" spc="-310"/>
              <a:t> </a:t>
            </a:r>
            <a:r>
              <a:rPr dirty="0" spc="-80"/>
              <a:t>Engineering</a:t>
            </a:r>
          </a:p>
        </p:txBody>
      </p:sp>
      <p:sp>
        <p:nvSpPr>
          <p:cNvPr id="9" name="object 9"/>
          <p:cNvSpPr/>
          <p:nvPr/>
        </p:nvSpPr>
        <p:spPr>
          <a:xfrm>
            <a:off x="571500" y="1238250"/>
            <a:ext cx="11049000" cy="38100"/>
          </a:xfrm>
          <a:custGeom>
            <a:avLst/>
            <a:gdLst/>
            <a:ahLst/>
            <a:cxnLst/>
            <a:rect l="l" t="t" r="r" b="b"/>
            <a:pathLst>
              <a:path w="11049000" h="38100">
                <a:moveTo>
                  <a:pt x="11048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38099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58800" y="2328079"/>
            <a:ext cx="5088255" cy="1337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0">
                <a:solidFill>
                  <a:srgbClr val="0F172A"/>
                </a:solidFill>
                <a:latin typeface="Arial Black"/>
                <a:cs typeface="Arial Black"/>
              </a:rPr>
              <a:t>Value</a:t>
            </a:r>
            <a:r>
              <a:rPr dirty="0" sz="1400" spc="-145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0F172A"/>
                </a:solidFill>
                <a:latin typeface="Arial Black"/>
                <a:cs typeface="Arial Black"/>
              </a:rPr>
              <a:t>Generation</a:t>
            </a:r>
            <a:endParaRPr sz="14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69"/>
              </a:spcBef>
            </a:pPr>
            <a:r>
              <a:rPr dirty="0" sz="1350" spc="-70">
                <a:solidFill>
                  <a:srgbClr val="475568"/>
                </a:solidFill>
                <a:latin typeface="Tahoma"/>
                <a:cs typeface="Tahoma"/>
              </a:rPr>
              <a:t>To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understand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the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true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impact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of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475568"/>
                </a:solidFill>
                <a:latin typeface="Tahoma"/>
                <a:cs typeface="Tahoma"/>
              </a:rPr>
              <a:t>sales,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we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engineered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475568"/>
                </a:solidFill>
                <a:latin typeface="Tahoma"/>
                <a:cs typeface="Tahoma"/>
              </a:rPr>
              <a:t>a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new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column </a:t>
            </a:r>
            <a:r>
              <a:rPr dirty="0" sz="1350" spc="-95" b="1">
                <a:solidFill>
                  <a:srgbClr val="475568"/>
                </a:solidFill>
                <a:latin typeface="Tahoma"/>
                <a:cs typeface="Tahoma"/>
              </a:rPr>
              <a:t>Total</a:t>
            </a:r>
            <a:r>
              <a:rPr dirty="0" sz="1350" spc="-80" b="1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85" b="1">
                <a:solidFill>
                  <a:srgbClr val="475568"/>
                </a:solidFill>
                <a:latin typeface="Tahoma"/>
                <a:cs typeface="Tahoma"/>
              </a:rPr>
              <a:t>Price</a:t>
            </a:r>
            <a:r>
              <a:rPr dirty="0" sz="1350" spc="-85">
                <a:solidFill>
                  <a:srgbClr val="475568"/>
                </a:solidFill>
                <a:latin typeface="Tahoma"/>
                <a:cs typeface="Tahoma"/>
              </a:rPr>
              <a:t>.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This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feature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serves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475568"/>
                </a:solidFill>
                <a:latin typeface="Tahoma"/>
                <a:cs typeface="Tahoma"/>
              </a:rPr>
              <a:t>as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the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primary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metric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revenue analysis.</a:t>
            </a:r>
            <a:endParaRPr sz="1350">
              <a:latin typeface="Tahoma"/>
              <a:cs typeface="Tahoma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571500" y="3980407"/>
            <a:ext cx="2693035" cy="533400"/>
            <a:chOff x="571500" y="3980407"/>
            <a:chExt cx="2693035" cy="533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3980407"/>
              <a:ext cx="2692448" cy="5333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9625" y="4170907"/>
              <a:ext cx="2263823" cy="15239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58800" y="4856200"/>
            <a:ext cx="4756150" cy="560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This</a:t>
            </a:r>
            <a:r>
              <a:rPr dirty="0" sz="1350" spc="-12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allows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dirty="0" sz="1350" spc="-12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deeper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analysis</a:t>
            </a:r>
            <a:r>
              <a:rPr dirty="0" sz="1350" spc="-12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of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customer</a:t>
            </a:r>
            <a:r>
              <a:rPr dirty="0" sz="1350" spc="-12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spending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power</a:t>
            </a:r>
            <a:r>
              <a:rPr dirty="0" sz="1350" spc="-12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geographical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performance.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34125" y="2347912"/>
            <a:ext cx="5286374" cy="3247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9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Core</a:t>
            </a:r>
            <a:r>
              <a:rPr dirty="0" spc="-305"/>
              <a:t> </a:t>
            </a:r>
            <a:r>
              <a:rPr dirty="0" spc="-75"/>
              <a:t>Analytical</a:t>
            </a:r>
            <a:r>
              <a:rPr dirty="0" spc="-300"/>
              <a:t> </a:t>
            </a:r>
            <a:r>
              <a:rPr dirty="0" spc="-70"/>
              <a:t>Operations</a:t>
            </a:r>
          </a:p>
        </p:txBody>
      </p:sp>
      <p:sp>
        <p:nvSpPr>
          <p:cNvPr id="12" name="object 12"/>
          <p:cNvSpPr/>
          <p:nvPr/>
        </p:nvSpPr>
        <p:spPr>
          <a:xfrm>
            <a:off x="571500" y="1238250"/>
            <a:ext cx="11049000" cy="38100"/>
          </a:xfrm>
          <a:custGeom>
            <a:avLst/>
            <a:gdLst/>
            <a:ahLst/>
            <a:cxnLst/>
            <a:rect l="l" t="t" r="r" b="b"/>
            <a:pathLst>
              <a:path w="11049000" h="38100">
                <a:moveTo>
                  <a:pt x="11048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38099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617440"/>
            <a:ext cx="3492548" cy="27088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6775" y="2950815"/>
            <a:ext cx="380999" cy="380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54075" y="3500470"/>
            <a:ext cx="257746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F172A"/>
                </a:solidFill>
                <a:latin typeface="Arial Black"/>
                <a:cs typeface="Arial Black"/>
              </a:rPr>
              <a:t>Filtering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60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Extracting</a:t>
            </a:r>
            <a:r>
              <a:rPr dirty="0" sz="1350" spc="-9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high-value</a:t>
            </a:r>
            <a:r>
              <a:rPr dirty="0" sz="1350" spc="-9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transactions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(Qty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15">
                <a:solidFill>
                  <a:srgbClr val="475568"/>
                </a:solidFill>
                <a:latin typeface="Tahoma"/>
                <a:cs typeface="Tahoma"/>
              </a:rPr>
              <a:t>&gt;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10)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isolating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specific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markets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like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the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United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Kingdom.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798" y="2617440"/>
            <a:ext cx="3492548" cy="270881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5073" y="2950815"/>
            <a:ext cx="428624" cy="3809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32374" y="3500470"/>
            <a:ext cx="257746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F172A"/>
                </a:solidFill>
                <a:latin typeface="Arial Black"/>
                <a:cs typeface="Arial Black"/>
              </a:rPr>
              <a:t>Aggregation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60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Using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75568"/>
                </a:solidFill>
                <a:latin typeface="Tahoma"/>
                <a:cs typeface="Tahoma"/>
              </a:rPr>
              <a:t>groupBy()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to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calculate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order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density</a:t>
            </a:r>
            <a:r>
              <a:rPr dirty="0" sz="1350" spc="-10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per</a:t>
            </a:r>
            <a:r>
              <a:rPr dirty="0" sz="1350" spc="-9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country</a:t>
            </a:r>
            <a:r>
              <a:rPr dirty="0" sz="1350" spc="-9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dirty="0" sz="1350" spc="-10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average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pricing</a:t>
            </a:r>
            <a:r>
              <a:rPr dirty="0" sz="1350" spc="-8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structures</a:t>
            </a:r>
            <a:r>
              <a:rPr dirty="0" sz="1350" spc="-8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per</a:t>
            </a:r>
            <a:r>
              <a:rPr dirty="0" sz="1350" spc="-8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region.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8099" y="2617440"/>
            <a:ext cx="3492547" cy="270881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23374" y="2950815"/>
            <a:ext cx="238124" cy="3809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10674" y="3500470"/>
            <a:ext cx="271843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F172A"/>
                </a:solidFill>
                <a:latin typeface="Arial Black"/>
                <a:cs typeface="Arial Black"/>
              </a:rPr>
              <a:t>Sorting</a:t>
            </a:r>
            <a:endParaRPr sz="1800">
              <a:latin typeface="Arial Black"/>
              <a:cs typeface="Arial Black"/>
            </a:endParaRPr>
          </a:p>
          <a:p>
            <a:pPr algn="just" marL="12700" marR="5080">
              <a:lnSpc>
                <a:spcPct val="160000"/>
              </a:lnSpc>
              <a:spcBef>
                <a:spcPts val="860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Organizing</a:t>
            </a:r>
            <a:r>
              <a:rPr dirty="0" sz="1350" spc="-8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inventory</a:t>
            </a:r>
            <a:r>
              <a:rPr dirty="0" sz="1350" spc="-6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475568"/>
                </a:solidFill>
                <a:latin typeface="Tahoma"/>
                <a:cs typeface="Tahoma"/>
              </a:rPr>
              <a:t>based</a:t>
            </a:r>
            <a:r>
              <a:rPr dirty="0" sz="1350" spc="-6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60">
                <a:solidFill>
                  <a:srgbClr val="475568"/>
                </a:solidFill>
                <a:latin typeface="Tahoma"/>
                <a:cs typeface="Tahoma"/>
              </a:rPr>
              <a:t>on</a:t>
            </a:r>
            <a:r>
              <a:rPr dirty="0" sz="1350" spc="-4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price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points</a:t>
            </a:r>
            <a:r>
              <a:rPr dirty="0" sz="1350" spc="-8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to</a:t>
            </a:r>
            <a:r>
              <a:rPr dirty="0" sz="1350" spc="-8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identify</a:t>
            </a:r>
            <a:r>
              <a:rPr dirty="0" sz="1350" spc="-8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premium</a:t>
            </a:r>
            <a:r>
              <a:rPr dirty="0" sz="1350" spc="-8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products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dirty="0" sz="1350" spc="-12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inventory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value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distribution.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9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80"/>
              <a:t>Geographical</a:t>
            </a:r>
            <a:r>
              <a:rPr dirty="0" spc="-295"/>
              <a:t> </a:t>
            </a:r>
            <a:r>
              <a:rPr dirty="0" spc="-130"/>
              <a:t>Revenue</a:t>
            </a:r>
            <a:r>
              <a:rPr dirty="0" spc="-290"/>
              <a:t> </a:t>
            </a:r>
            <a:r>
              <a:rPr dirty="0" spc="-70"/>
              <a:t>Insights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238250"/>
            <a:ext cx="11049000" cy="38100"/>
          </a:xfrm>
          <a:custGeom>
            <a:avLst/>
            <a:gdLst/>
            <a:ahLst/>
            <a:cxnLst/>
            <a:rect l="l" t="t" r="r" b="b"/>
            <a:pathLst>
              <a:path w="11049000" h="38100">
                <a:moveTo>
                  <a:pt x="11048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38099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657350"/>
            <a:ext cx="11048999" cy="46291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475237" y="4991483"/>
            <a:ext cx="72390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75" i="1">
                <a:solidFill>
                  <a:srgbClr val="475568"/>
                </a:solidFill>
                <a:latin typeface="Trebuchet MS"/>
                <a:cs typeface="Trebuchet MS"/>
              </a:rPr>
              <a:t>The</a:t>
            </a:r>
            <a:r>
              <a:rPr dirty="0" sz="1350" spc="-100" i="1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dirty="0" sz="1350" i="1">
                <a:solidFill>
                  <a:srgbClr val="475568"/>
                </a:solidFill>
                <a:latin typeface="Trebuchet MS"/>
                <a:cs typeface="Trebuchet MS"/>
              </a:rPr>
              <a:t>UK</a:t>
            </a:r>
            <a:r>
              <a:rPr dirty="0" sz="1350" spc="-95" i="1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dirty="0" sz="1350" spc="-75" i="1">
                <a:solidFill>
                  <a:srgbClr val="475568"/>
                </a:solidFill>
                <a:latin typeface="Trebuchet MS"/>
                <a:cs typeface="Trebuchet MS"/>
              </a:rPr>
              <a:t>remains</a:t>
            </a:r>
            <a:r>
              <a:rPr dirty="0" sz="1350" spc="-95" i="1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dirty="0" sz="1350" spc="-90" i="1">
                <a:solidFill>
                  <a:srgbClr val="475568"/>
                </a:solidFill>
                <a:latin typeface="Trebuchet MS"/>
                <a:cs typeface="Trebuchet MS"/>
              </a:rPr>
              <a:t>the</a:t>
            </a:r>
            <a:r>
              <a:rPr dirty="0" sz="1350" spc="-95" i="1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dirty="0" sz="1350" spc="-70" i="1">
                <a:solidFill>
                  <a:srgbClr val="475568"/>
                </a:solidFill>
                <a:latin typeface="Trebuchet MS"/>
                <a:cs typeface="Trebuchet MS"/>
              </a:rPr>
              <a:t>dominant</a:t>
            </a:r>
            <a:r>
              <a:rPr dirty="0" sz="1350" spc="-95" i="1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dirty="0" sz="1350" spc="-85" i="1">
                <a:solidFill>
                  <a:srgbClr val="475568"/>
                </a:solidFill>
                <a:latin typeface="Trebuchet MS"/>
                <a:cs typeface="Trebuchet MS"/>
              </a:rPr>
              <a:t>market</a:t>
            </a:r>
            <a:r>
              <a:rPr dirty="0" sz="1350" spc="-95" i="1">
                <a:solidFill>
                  <a:srgbClr val="475568"/>
                </a:solidFill>
                <a:latin typeface="Trebuchet MS"/>
                <a:cs typeface="Trebuchet MS"/>
              </a:rPr>
              <a:t> contributor, </a:t>
            </a:r>
            <a:r>
              <a:rPr dirty="0" sz="1350" spc="-85" i="1">
                <a:solidFill>
                  <a:srgbClr val="475568"/>
                </a:solidFill>
                <a:latin typeface="Trebuchet MS"/>
                <a:cs typeface="Trebuchet MS"/>
              </a:rPr>
              <a:t>while</a:t>
            </a:r>
            <a:r>
              <a:rPr dirty="0" sz="1350" spc="-95" i="1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dirty="0" sz="1350" spc="-80" i="1">
                <a:solidFill>
                  <a:srgbClr val="475568"/>
                </a:solidFill>
                <a:latin typeface="Trebuchet MS"/>
                <a:cs typeface="Trebuchet MS"/>
              </a:rPr>
              <a:t>Central</a:t>
            </a:r>
            <a:r>
              <a:rPr dirty="0" sz="1350" spc="-95" i="1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dirty="0" sz="1350" spc="-75" i="1">
                <a:solidFill>
                  <a:srgbClr val="475568"/>
                </a:solidFill>
                <a:latin typeface="Trebuchet MS"/>
                <a:cs typeface="Trebuchet MS"/>
              </a:rPr>
              <a:t>Europe</a:t>
            </a:r>
            <a:r>
              <a:rPr dirty="0" sz="1350" spc="-95" i="1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dirty="0" sz="1350" spc="-45" i="1">
                <a:solidFill>
                  <a:srgbClr val="475568"/>
                </a:solidFill>
                <a:latin typeface="Trebuchet MS"/>
                <a:cs typeface="Trebuchet MS"/>
              </a:rPr>
              <a:t>shows</a:t>
            </a:r>
            <a:r>
              <a:rPr dirty="0" sz="1350" spc="-95" i="1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dirty="0" sz="1350" spc="-75" i="1">
                <a:solidFill>
                  <a:srgbClr val="475568"/>
                </a:solidFill>
                <a:latin typeface="Trebuchet MS"/>
                <a:cs typeface="Trebuchet MS"/>
              </a:rPr>
              <a:t>consistent</a:t>
            </a:r>
            <a:r>
              <a:rPr dirty="0" sz="1350" spc="-95" i="1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dirty="0" sz="1350" spc="-65" i="1">
                <a:solidFill>
                  <a:srgbClr val="475568"/>
                </a:solidFill>
                <a:latin typeface="Trebuchet MS"/>
                <a:cs typeface="Trebuchet MS"/>
              </a:rPr>
              <a:t>steady</a:t>
            </a:r>
            <a:r>
              <a:rPr dirty="0" sz="1350" spc="-95" i="1">
                <a:solidFill>
                  <a:srgbClr val="475568"/>
                </a:solidFill>
                <a:latin typeface="Trebuchet MS"/>
                <a:cs typeface="Trebuchet MS"/>
              </a:rPr>
              <a:t> </a:t>
            </a:r>
            <a:r>
              <a:rPr dirty="0" sz="1350" spc="-40" i="1">
                <a:solidFill>
                  <a:srgbClr val="475568"/>
                </a:solidFill>
                <a:latin typeface="Trebuchet MS"/>
                <a:cs typeface="Trebuchet MS"/>
              </a:rPr>
              <a:t>growth.</a:t>
            </a:r>
            <a:endParaRPr sz="13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Monthly</a:t>
            </a:r>
            <a:r>
              <a:rPr dirty="0" spc="-305"/>
              <a:t> </a:t>
            </a:r>
            <a:r>
              <a:rPr dirty="0" spc="-150"/>
              <a:t>Sales</a:t>
            </a:r>
            <a:r>
              <a:rPr dirty="0" spc="-300"/>
              <a:t> </a:t>
            </a:r>
            <a:r>
              <a:rPr dirty="0" spc="-85"/>
              <a:t>Performance</a:t>
            </a:r>
            <a:r>
              <a:rPr dirty="0" spc="-305"/>
              <a:t> </a:t>
            </a:r>
            <a:r>
              <a:rPr dirty="0" spc="-95"/>
              <a:t>Trends</a:t>
            </a:r>
          </a:p>
        </p:txBody>
      </p:sp>
      <p:sp>
        <p:nvSpPr>
          <p:cNvPr id="5" name="object 5"/>
          <p:cNvSpPr/>
          <p:nvPr/>
        </p:nvSpPr>
        <p:spPr>
          <a:xfrm>
            <a:off x="571500" y="1163091"/>
            <a:ext cx="11049000" cy="38100"/>
          </a:xfrm>
          <a:custGeom>
            <a:avLst/>
            <a:gdLst/>
            <a:ahLst/>
            <a:cxnLst/>
            <a:rect l="l" t="t" r="r" b="b"/>
            <a:pathLst>
              <a:path w="11049000" h="38100">
                <a:moveTo>
                  <a:pt x="11048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38099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582191"/>
            <a:ext cx="11048999" cy="38671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8800" y="5525795"/>
            <a:ext cx="10318750" cy="601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475568"/>
                </a:solidFill>
                <a:latin typeface="Tahoma"/>
                <a:cs typeface="Tahoma"/>
              </a:rPr>
              <a:t>JanMarMayJulSepNovDec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Tahoma"/>
              <a:cs typeface="Tahoma"/>
            </a:endParaRPr>
          </a:p>
          <a:p>
            <a:pPr marL="768350">
              <a:lnSpc>
                <a:spcPct val="100000"/>
              </a:lnSpc>
            </a:pPr>
            <a:r>
              <a:rPr dirty="0" sz="1350" spc="60">
                <a:solidFill>
                  <a:srgbClr val="475568"/>
                </a:solidFill>
                <a:latin typeface="Tahoma"/>
                <a:cs typeface="Tahoma"/>
              </a:rPr>
              <a:t>We</a:t>
            </a:r>
            <a:r>
              <a:rPr dirty="0" sz="1350" spc="-12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observe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35">
                <a:solidFill>
                  <a:srgbClr val="475568"/>
                </a:solidFill>
                <a:latin typeface="Tahoma"/>
                <a:cs typeface="Tahoma"/>
              </a:rPr>
              <a:t>a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significant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95" b="1">
                <a:solidFill>
                  <a:srgbClr val="475568"/>
                </a:solidFill>
                <a:latin typeface="Tahoma"/>
                <a:cs typeface="Tahoma"/>
              </a:rPr>
              <a:t>Year-</a:t>
            </a:r>
            <a:r>
              <a:rPr dirty="0" sz="1350" spc="-100" b="1">
                <a:solidFill>
                  <a:srgbClr val="475568"/>
                </a:solidFill>
                <a:latin typeface="Tahoma"/>
                <a:cs typeface="Tahoma"/>
              </a:rPr>
              <a:t>End</a:t>
            </a:r>
            <a:r>
              <a:rPr dirty="0" sz="1350" spc="-90" b="1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14" b="1">
                <a:solidFill>
                  <a:srgbClr val="475568"/>
                </a:solidFill>
                <a:latin typeface="Tahoma"/>
                <a:cs typeface="Tahoma"/>
              </a:rPr>
              <a:t>Surge</a:t>
            </a:r>
            <a:r>
              <a:rPr dirty="0" sz="1350" spc="-90" b="1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starting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in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October,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attributed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to</a:t>
            </a:r>
            <a:r>
              <a:rPr dirty="0" sz="1350" spc="-12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seasonal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purchasing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patterns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holiday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promotions.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9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0"/>
              <a:t>Product</a:t>
            </a:r>
            <a:r>
              <a:rPr dirty="0" spc="-330"/>
              <a:t> </a:t>
            </a:r>
            <a:r>
              <a:rPr dirty="0" spc="-295"/>
              <a:t>&amp;</a:t>
            </a:r>
            <a:r>
              <a:rPr dirty="0" spc="-325"/>
              <a:t> </a:t>
            </a:r>
            <a:r>
              <a:rPr dirty="0" spc="-65"/>
              <a:t>Customer</a:t>
            </a:r>
            <a:r>
              <a:rPr dirty="0" spc="-325"/>
              <a:t> </a:t>
            </a:r>
            <a:r>
              <a:rPr dirty="0" spc="-100"/>
              <a:t>Intelligence</a:t>
            </a:r>
          </a:p>
        </p:txBody>
      </p:sp>
      <p:sp>
        <p:nvSpPr>
          <p:cNvPr id="7" name="object 7"/>
          <p:cNvSpPr/>
          <p:nvPr/>
        </p:nvSpPr>
        <p:spPr>
          <a:xfrm>
            <a:off x="571500" y="1238250"/>
            <a:ext cx="11049000" cy="38100"/>
          </a:xfrm>
          <a:custGeom>
            <a:avLst/>
            <a:gdLst/>
            <a:ahLst/>
            <a:cxnLst/>
            <a:rect l="l" t="t" r="r" b="b"/>
            <a:pathLst>
              <a:path w="11049000" h="38100">
                <a:moveTo>
                  <a:pt x="11048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38099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366962"/>
            <a:ext cx="5286374" cy="32097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4075" y="2678493"/>
            <a:ext cx="3072765" cy="2388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5">
                <a:solidFill>
                  <a:srgbClr val="0F172A"/>
                </a:solidFill>
                <a:latin typeface="Arial Black"/>
                <a:cs typeface="Arial Black"/>
              </a:rPr>
              <a:t>Top</a:t>
            </a:r>
            <a:r>
              <a:rPr dirty="0" sz="1800" spc="-21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dirty="0" sz="1800" spc="-45">
                <a:solidFill>
                  <a:srgbClr val="0F172A"/>
                </a:solidFill>
                <a:latin typeface="Arial Black"/>
                <a:cs typeface="Arial Black"/>
              </a:rPr>
              <a:t>5</a:t>
            </a:r>
            <a:r>
              <a:rPr dirty="0" sz="1800" spc="-204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0F172A"/>
                </a:solidFill>
                <a:latin typeface="Arial Black"/>
                <a:cs typeface="Arial Black"/>
              </a:rPr>
              <a:t>Products</a:t>
            </a:r>
            <a:endParaRPr sz="1800">
              <a:latin typeface="Arial Black"/>
              <a:cs typeface="Arial Black"/>
            </a:endParaRPr>
          </a:p>
          <a:p>
            <a:pPr marL="346075" marR="5080">
              <a:lnSpc>
                <a:spcPct val="202800"/>
              </a:lnSpc>
              <a:spcBef>
                <a:spcPts val="15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White</a:t>
            </a:r>
            <a:r>
              <a:rPr dirty="0" sz="1350" spc="-5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Hanging</a:t>
            </a:r>
            <a:r>
              <a:rPr dirty="0" sz="1350" spc="-5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Heart</a:t>
            </a:r>
            <a:r>
              <a:rPr dirty="0" sz="1350" spc="-4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T-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Light</a:t>
            </a:r>
            <a:r>
              <a:rPr dirty="0" sz="1350" spc="-5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Holder Regency</a:t>
            </a:r>
            <a:r>
              <a:rPr dirty="0" sz="1350" spc="-12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Cakestand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3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Tier</a:t>
            </a:r>
            <a:endParaRPr sz="1350">
              <a:latin typeface="Tahoma"/>
              <a:cs typeface="Tahoma"/>
            </a:endParaRPr>
          </a:p>
          <a:p>
            <a:pPr marL="346075" marR="702945">
              <a:lnSpc>
                <a:spcPct val="202800"/>
              </a:lnSpc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Jumbo</a:t>
            </a:r>
            <a:r>
              <a:rPr dirty="0" sz="1350" spc="-15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Bag</a:t>
            </a:r>
            <a:r>
              <a:rPr dirty="0" sz="1350" spc="-15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Red</a:t>
            </a:r>
            <a:r>
              <a:rPr dirty="0" sz="1350" spc="-15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Retrospect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Party</a:t>
            </a:r>
            <a:r>
              <a:rPr dirty="0" sz="1350" spc="-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Bunting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ahoma"/>
              <a:cs typeface="Tahoma"/>
            </a:endParaRPr>
          </a:p>
          <a:p>
            <a:pPr marL="346075">
              <a:lnSpc>
                <a:spcPct val="100000"/>
              </a:lnSpc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Assorted</a:t>
            </a:r>
            <a:r>
              <a:rPr dirty="0" sz="1350" spc="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Colour</a:t>
            </a:r>
            <a:r>
              <a:rPr dirty="0" sz="1350" spc="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Bird</a:t>
            </a:r>
            <a:r>
              <a:rPr dirty="0" sz="1350" spc="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Ornament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6775" y="3186112"/>
            <a:ext cx="228599" cy="2476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6775" y="3603276"/>
            <a:ext cx="228599" cy="24764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4125" y="2366962"/>
            <a:ext cx="5286374" cy="213731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616700" y="2678493"/>
            <a:ext cx="468312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">
                <a:solidFill>
                  <a:srgbClr val="0F172A"/>
                </a:solidFill>
                <a:latin typeface="Arial Black"/>
                <a:cs typeface="Arial Black"/>
              </a:rPr>
              <a:t>Customer</a:t>
            </a:r>
            <a:r>
              <a:rPr dirty="0" sz="1800" spc="-145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0F172A"/>
                </a:solidFill>
                <a:latin typeface="Arial Black"/>
                <a:cs typeface="Arial Black"/>
              </a:rPr>
              <a:t>Segments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60"/>
              </a:spcBef>
            </a:pPr>
            <a:r>
              <a:rPr dirty="0" sz="1350" spc="55">
                <a:solidFill>
                  <a:srgbClr val="475568"/>
                </a:solidFill>
                <a:latin typeface="Tahoma"/>
                <a:cs typeface="Tahoma"/>
              </a:rPr>
              <a:t>Our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analysis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identified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the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"Whale"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customers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(High</a:t>
            </a:r>
            <a:r>
              <a:rPr dirty="0" sz="1350" spc="-11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Spenders) by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calculating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total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purchase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value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per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CustomerID.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75568"/>
                </a:solidFill>
                <a:latin typeface="Tahoma"/>
                <a:cs typeface="Tahoma"/>
              </a:rPr>
              <a:t>Top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spending</a:t>
            </a:r>
            <a:r>
              <a:rPr dirty="0" sz="1350" spc="-7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segments</a:t>
            </a:r>
            <a:r>
              <a:rPr dirty="0" sz="1350" spc="-6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are</a:t>
            </a:r>
            <a:r>
              <a:rPr dirty="0" sz="1350" spc="-6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prioritized</a:t>
            </a:r>
            <a:r>
              <a:rPr dirty="0" sz="1350" spc="-6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dirty="0" sz="1350" spc="-7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loyalty</a:t>
            </a:r>
            <a:r>
              <a:rPr dirty="0" sz="1350" spc="-6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programs.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6775" y="4020442"/>
            <a:ext cx="228599" cy="2476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6775" y="4437607"/>
            <a:ext cx="228599" cy="2476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6775" y="4854773"/>
            <a:ext cx="228599" cy="2476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58800" y="543559"/>
            <a:ext cx="626427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0"/>
              <a:t>Conclusion</a:t>
            </a:r>
            <a:r>
              <a:rPr dirty="0" spc="-315"/>
              <a:t> </a:t>
            </a:r>
            <a:r>
              <a:rPr dirty="0" spc="-295"/>
              <a:t>&amp;</a:t>
            </a:r>
            <a:r>
              <a:rPr dirty="0" spc="-315"/>
              <a:t> </a:t>
            </a:r>
            <a:r>
              <a:rPr dirty="0" spc="-125"/>
              <a:t>Strategic</a:t>
            </a:r>
            <a:r>
              <a:rPr dirty="0" spc="-310"/>
              <a:t> </a:t>
            </a:r>
            <a:r>
              <a:rPr dirty="0" spc="-45"/>
              <a:t>Findings</a:t>
            </a:r>
          </a:p>
        </p:txBody>
      </p:sp>
      <p:sp>
        <p:nvSpPr>
          <p:cNvPr id="9" name="object 9"/>
          <p:cNvSpPr/>
          <p:nvPr/>
        </p:nvSpPr>
        <p:spPr>
          <a:xfrm>
            <a:off x="571500" y="1238250"/>
            <a:ext cx="11049000" cy="38100"/>
          </a:xfrm>
          <a:custGeom>
            <a:avLst/>
            <a:gdLst/>
            <a:ahLst/>
            <a:cxnLst/>
            <a:rect l="l" t="t" r="r" b="b"/>
            <a:pathLst>
              <a:path w="11049000" h="38100">
                <a:moveTo>
                  <a:pt x="11048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38099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907952"/>
            <a:ext cx="3492548" cy="21277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54075" y="3219482"/>
            <a:ext cx="258953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F172A"/>
                </a:solidFill>
                <a:latin typeface="Arial Black"/>
                <a:cs typeface="Arial Black"/>
              </a:rPr>
              <a:t>Scalability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60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PySpark</a:t>
            </a:r>
            <a:r>
              <a:rPr dirty="0" sz="1350" spc="-8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efficiently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handled</a:t>
            </a:r>
            <a:r>
              <a:rPr dirty="0" sz="1350" spc="-7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541k+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rows,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demonstrating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its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value</a:t>
            </a:r>
            <a:r>
              <a:rPr dirty="0" sz="1350" spc="-1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75568"/>
                </a:solidFill>
                <a:latin typeface="Tahoma"/>
                <a:cs typeface="Tahoma"/>
              </a:rPr>
              <a:t>for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future</a:t>
            </a:r>
            <a:r>
              <a:rPr dirty="0" sz="1350" spc="-10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e-commerce</a:t>
            </a:r>
            <a:r>
              <a:rPr dirty="0" sz="1350" spc="-10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growth.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798" y="2907952"/>
            <a:ext cx="3492548" cy="21277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632374" y="3219482"/>
            <a:ext cx="2886075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solidFill>
                  <a:srgbClr val="0F172A"/>
                </a:solidFill>
                <a:latin typeface="Arial Black"/>
                <a:cs typeface="Arial Black"/>
              </a:rPr>
              <a:t>Cleaning</a:t>
            </a:r>
            <a:r>
              <a:rPr dirty="0" sz="1800" spc="-160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0F172A"/>
                </a:solidFill>
                <a:latin typeface="Arial Black"/>
                <a:cs typeface="Arial Black"/>
              </a:rPr>
              <a:t>Impact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60"/>
              </a:spcBef>
            </a:pP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Removing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over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5,000</a:t>
            </a:r>
            <a:r>
              <a:rPr dirty="0" sz="1350" spc="-1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duplicates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ensured</a:t>
            </a:r>
            <a:r>
              <a:rPr dirty="0" sz="1350" spc="-12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that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the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sales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trends</a:t>
            </a:r>
            <a:r>
              <a:rPr dirty="0" sz="1350" spc="-12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were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5">
                <a:solidFill>
                  <a:srgbClr val="475568"/>
                </a:solidFill>
                <a:latin typeface="Tahoma"/>
                <a:cs typeface="Tahoma"/>
              </a:rPr>
              <a:t>not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inflated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by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technical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errors.</a:t>
            </a:r>
            <a:endParaRPr sz="135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8099" y="2907952"/>
            <a:ext cx="3492547" cy="212779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10674" y="3219482"/>
            <a:ext cx="2684780" cy="1397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>
                <a:solidFill>
                  <a:srgbClr val="0F172A"/>
                </a:solidFill>
                <a:latin typeface="Arial Black"/>
                <a:cs typeface="Arial Black"/>
              </a:rPr>
              <a:t>Market</a:t>
            </a:r>
            <a:r>
              <a:rPr dirty="0" sz="1800" spc="-175">
                <a:solidFill>
                  <a:srgbClr val="0F172A"/>
                </a:solidFill>
                <a:latin typeface="Arial Black"/>
                <a:cs typeface="Arial Black"/>
              </a:rPr>
              <a:t> </a:t>
            </a:r>
            <a:r>
              <a:rPr dirty="0" sz="1800" spc="-10">
                <a:solidFill>
                  <a:srgbClr val="0F172A"/>
                </a:solidFill>
                <a:latin typeface="Arial Black"/>
                <a:cs typeface="Arial Black"/>
              </a:rPr>
              <a:t>Strategy</a:t>
            </a:r>
            <a:endParaRPr sz="1800">
              <a:latin typeface="Arial Black"/>
              <a:cs typeface="Arial Black"/>
            </a:endParaRPr>
          </a:p>
          <a:p>
            <a:pPr marL="12700" marR="5080">
              <a:lnSpc>
                <a:spcPct val="160000"/>
              </a:lnSpc>
              <a:spcBef>
                <a:spcPts val="860"/>
              </a:spcBef>
            </a:pPr>
            <a:r>
              <a:rPr dirty="0" sz="1350" spc="105">
                <a:solidFill>
                  <a:srgbClr val="475568"/>
                </a:solidFill>
                <a:latin typeface="Tahoma"/>
                <a:cs typeface="Tahoma"/>
              </a:rPr>
              <a:t>UK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remains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core,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but</a:t>
            </a:r>
            <a:r>
              <a:rPr dirty="0" sz="1350" spc="-12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high-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spending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clusters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in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EIRE</a:t>
            </a:r>
            <a:r>
              <a:rPr dirty="0" sz="1350" spc="-12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20">
                <a:solidFill>
                  <a:srgbClr val="475568"/>
                </a:solidFill>
                <a:latin typeface="Tahoma"/>
                <a:cs typeface="Tahoma"/>
              </a:rPr>
              <a:t>and</a:t>
            </a:r>
            <a:r>
              <a:rPr dirty="0" sz="1350" spc="-13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Germany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represent</a:t>
            </a:r>
            <a:r>
              <a:rPr dirty="0" sz="1350" spc="-9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expansion</a:t>
            </a:r>
            <a:r>
              <a:rPr dirty="0" sz="1350" spc="-8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opportunities.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1047750"/>
            <a:ext cx="5286374" cy="47624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321425" y="1585624"/>
            <a:ext cx="3308350" cy="711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60"/>
              <a:t>Questions?</a:t>
            </a:r>
            <a:endParaRPr sz="4500"/>
          </a:p>
        </p:txBody>
      </p:sp>
      <p:sp>
        <p:nvSpPr>
          <p:cNvPr id="4" name="object 4"/>
          <p:cNvSpPr txBox="1"/>
          <p:nvPr/>
        </p:nvSpPr>
        <p:spPr>
          <a:xfrm>
            <a:off x="6321425" y="2685189"/>
            <a:ext cx="3023870" cy="2317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75568"/>
                </a:solidFill>
                <a:latin typeface="Tahoma"/>
                <a:cs typeface="Tahoma"/>
              </a:rPr>
              <a:t>Thank</a:t>
            </a:r>
            <a:r>
              <a:rPr dirty="0" sz="1800" spc="-17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475568"/>
                </a:solidFill>
                <a:latin typeface="Tahoma"/>
                <a:cs typeface="Tahoma"/>
              </a:rPr>
              <a:t>you</a:t>
            </a:r>
            <a:r>
              <a:rPr dirty="0" sz="1800" spc="-16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475568"/>
                </a:solidFill>
                <a:latin typeface="Tahoma"/>
                <a:cs typeface="Tahoma"/>
              </a:rPr>
              <a:t>for</a:t>
            </a:r>
            <a:r>
              <a:rPr dirty="0" sz="1800" spc="-16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800">
                <a:solidFill>
                  <a:srgbClr val="475568"/>
                </a:solidFill>
                <a:latin typeface="Tahoma"/>
                <a:cs typeface="Tahoma"/>
              </a:rPr>
              <a:t>your</a:t>
            </a:r>
            <a:r>
              <a:rPr dirty="0" sz="1800" spc="-16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800" spc="-10">
                <a:solidFill>
                  <a:srgbClr val="475568"/>
                </a:solidFill>
                <a:latin typeface="Tahoma"/>
                <a:cs typeface="Tahoma"/>
              </a:rPr>
              <a:t>attention.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60"/>
              </a:spcBef>
            </a:pPr>
            <a:endParaRPr sz="1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 spc="-75" b="1">
                <a:solidFill>
                  <a:srgbClr val="10B981"/>
                </a:solidFill>
                <a:latin typeface="Tahoma"/>
                <a:cs typeface="Tahoma"/>
              </a:rPr>
              <a:t>Project</a:t>
            </a:r>
            <a:r>
              <a:rPr dirty="0" sz="1350" spc="-100" b="1">
                <a:solidFill>
                  <a:srgbClr val="10B981"/>
                </a:solidFill>
                <a:latin typeface="Tahoma"/>
                <a:cs typeface="Tahoma"/>
              </a:rPr>
              <a:t> </a:t>
            </a:r>
            <a:r>
              <a:rPr dirty="0" sz="1350" spc="-10" b="1">
                <a:solidFill>
                  <a:srgbClr val="10B981"/>
                </a:solidFill>
                <a:latin typeface="Tahoma"/>
                <a:cs typeface="Tahoma"/>
              </a:rPr>
              <a:t>Contributors: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ct val="216699"/>
              </a:lnSpc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Lina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Al-Ghawamneh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|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Rawaa</a:t>
            </a:r>
            <a:r>
              <a:rPr dirty="0" sz="1350" spc="-10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Al-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Hourani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Layali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Al-Azzam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|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Dana</a:t>
            </a:r>
            <a:r>
              <a:rPr dirty="0" sz="1350" spc="-12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Nwarseh</a:t>
            </a:r>
            <a:endParaRPr sz="13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Batool</a:t>
            </a:r>
            <a:r>
              <a:rPr dirty="0" sz="1350" spc="-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Al-Ghazaawi</a:t>
            </a:r>
            <a:r>
              <a:rPr dirty="0" sz="1350" spc="-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14">
                <a:solidFill>
                  <a:srgbClr val="475568"/>
                </a:solidFill>
                <a:latin typeface="Tahoma"/>
                <a:cs typeface="Tahoma"/>
              </a:rPr>
              <a:t>|</a:t>
            </a:r>
            <a:r>
              <a:rPr dirty="0" sz="1350" spc="-40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>
                <a:solidFill>
                  <a:srgbClr val="475568"/>
                </a:solidFill>
                <a:latin typeface="Tahoma"/>
                <a:cs typeface="Tahoma"/>
              </a:rPr>
              <a:t>Nour</a:t>
            </a:r>
            <a:r>
              <a:rPr dirty="0" sz="1350" spc="-3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350" spc="-10">
                <a:solidFill>
                  <a:srgbClr val="475568"/>
                </a:solidFill>
                <a:latin typeface="Tahoma"/>
                <a:cs typeface="Tahoma"/>
              </a:rPr>
              <a:t>Obeidat</a:t>
            </a:r>
            <a:endParaRPr sz="13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29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Image</a:t>
            </a:r>
            <a:r>
              <a:rPr dirty="0" spc="-320"/>
              <a:t> </a:t>
            </a:r>
            <a:r>
              <a:rPr dirty="0" spc="-130"/>
              <a:t>Sources</a:t>
            </a:r>
          </a:p>
        </p:txBody>
      </p:sp>
      <p:sp>
        <p:nvSpPr>
          <p:cNvPr id="11" name="object 11"/>
          <p:cNvSpPr/>
          <p:nvPr/>
        </p:nvSpPr>
        <p:spPr>
          <a:xfrm>
            <a:off x="571500" y="1238250"/>
            <a:ext cx="11049000" cy="38100"/>
          </a:xfrm>
          <a:custGeom>
            <a:avLst/>
            <a:gdLst/>
            <a:ahLst/>
            <a:cxnLst/>
            <a:rect l="l" t="t" r="r" b="b"/>
            <a:pathLst>
              <a:path w="11049000" h="38100">
                <a:moveTo>
                  <a:pt x="11048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1048999" y="0"/>
                </a:lnTo>
                <a:lnTo>
                  <a:pt x="11048999" y="38099"/>
                </a:lnTo>
                <a:close/>
              </a:path>
            </a:pathLst>
          </a:custGeom>
          <a:solidFill>
            <a:srgbClr val="10B98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" y="2358479"/>
            <a:ext cx="857249" cy="476249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571500" y="308328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9000" y="0"/>
                </a:moveTo>
                <a:lnTo>
                  <a:pt x="0" y="0"/>
                </a:lnTo>
                <a:lnTo>
                  <a:pt x="0" y="9525"/>
                </a:lnTo>
                <a:lnTo>
                  <a:pt x="11049000" y="9525"/>
                </a:lnTo>
                <a:lnTo>
                  <a:pt x="11049000" y="0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" y="3341340"/>
            <a:ext cx="857249" cy="47624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71500" y="4066133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9000" y="0"/>
                </a:moveTo>
                <a:lnTo>
                  <a:pt x="0" y="0"/>
                </a:lnTo>
                <a:lnTo>
                  <a:pt x="0" y="9525"/>
                </a:lnTo>
                <a:lnTo>
                  <a:pt x="11049000" y="9525"/>
                </a:lnTo>
                <a:lnTo>
                  <a:pt x="11049000" y="0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1500" y="4324201"/>
            <a:ext cx="857249" cy="47624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71500" y="5048999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11049000" y="0"/>
                </a:moveTo>
                <a:lnTo>
                  <a:pt x="0" y="0"/>
                </a:lnTo>
                <a:lnTo>
                  <a:pt x="0" y="9525"/>
                </a:lnTo>
                <a:lnTo>
                  <a:pt x="11049000" y="9525"/>
                </a:lnTo>
                <a:lnTo>
                  <a:pt x="11049000" y="0"/>
                </a:lnTo>
                <a:close/>
              </a:path>
            </a:pathLst>
          </a:custGeom>
          <a:solidFill>
            <a:srgbClr val="75757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1500" y="5207942"/>
            <a:ext cx="857249" cy="4762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54175" y="2235158"/>
            <a:ext cx="9935845" cy="340169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950">
                <a:solidFill>
                  <a:srgbClr val="475568"/>
                </a:solidFill>
                <a:latin typeface="Tahoma"/>
                <a:cs typeface="Tahoma"/>
                <a:hlinkClick r:id="rId6"/>
              </a:rPr>
              <a:t>https://png.pngtree.com/thumb_back/fh260/background/20230718/pngtree-digital-retailing-illustration-laptop-keyboard-with-shopping-basket-and-e-commerce-</a:t>
            </a:r>
            <a:r>
              <a:rPr dirty="0" sz="950" spc="-10">
                <a:solidFill>
                  <a:srgbClr val="475568"/>
                </a:solidFill>
                <a:latin typeface="Tahoma"/>
                <a:cs typeface="Tahoma"/>
                <a:hlinkClick r:id="rId6"/>
              </a:rPr>
              <a:t>image_3903657.jpg</a:t>
            </a: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200" spc="-25">
                <a:solidFill>
                  <a:srgbClr val="475568"/>
                </a:solidFill>
                <a:latin typeface="Tahoma"/>
                <a:cs typeface="Tahoma"/>
              </a:rPr>
              <a:t>Source:</a:t>
            </a:r>
            <a:r>
              <a:rPr dirty="0" sz="1200" spc="-9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Tahoma"/>
                <a:cs typeface="Tahoma"/>
              </a:rPr>
              <a:t>pngtree.com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64200"/>
              </a:lnSpc>
            </a:pPr>
            <a:r>
              <a:rPr dirty="0" sz="950" spc="-10">
                <a:solidFill>
                  <a:srgbClr val="475568"/>
                </a:solidFill>
                <a:latin typeface="Tahoma"/>
                <a:cs typeface="Tahoma"/>
                <a:hlinkClick r:id="rId7"/>
              </a:rPr>
              <a:t>https://docs.kanaries.net/_next/image?url=https%3A%2F%2Fdocs-</a:t>
            </a:r>
            <a:r>
              <a:rPr dirty="0" sz="950">
                <a:solidFill>
                  <a:srgbClr val="475568"/>
                </a:solidFill>
                <a:latin typeface="Tahoma"/>
                <a:cs typeface="Tahoma"/>
                <a:hlinkClick r:id="rId7"/>
              </a:rPr>
              <a:t>us.oss-us-west-1.aliyuncs.com%2Fimg%2Fblog-</a:t>
            </a:r>
            <a:r>
              <a:rPr dirty="0" sz="950" spc="-10">
                <a:solidFill>
                  <a:srgbClr val="475568"/>
                </a:solidFill>
                <a:latin typeface="Tahoma"/>
                <a:cs typeface="Tahoma"/>
                <a:hlinkClick r:id="rId7"/>
              </a:rPr>
              <a:t>cover-</a:t>
            </a:r>
            <a:r>
              <a:rPr dirty="0" sz="950">
                <a:solidFill>
                  <a:srgbClr val="475568"/>
                </a:solidFill>
                <a:latin typeface="Tahoma"/>
                <a:cs typeface="Tahoma"/>
                <a:hlinkClick r:id="rId7"/>
              </a:rPr>
              <a:t>images%2Fclustering-visualization.png%3Fx-oss-</a:t>
            </a:r>
            <a:r>
              <a:rPr dirty="0" sz="950" spc="-10">
                <a:solidFill>
                  <a:srgbClr val="475568"/>
                </a:solidFill>
                <a:latin typeface="Tahoma"/>
                <a:cs typeface="Tahoma"/>
                <a:hlinkClick r:id="rId7"/>
              </a:rPr>
              <a:t>process%3Di mage%2Fresize%2Climit_0%2Cm_fill%2Cw_1536%2Ch_1024%2Fquality%2Cq_100&amp;w=3840&amp;q=75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200" spc="-25">
                <a:solidFill>
                  <a:srgbClr val="475568"/>
                </a:solidFill>
                <a:latin typeface="Tahoma"/>
                <a:cs typeface="Tahoma"/>
              </a:rPr>
              <a:t>Source:</a:t>
            </a:r>
            <a:r>
              <a:rPr dirty="0" sz="1200" spc="-9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Tahoma"/>
                <a:cs typeface="Tahoma"/>
              </a:rPr>
              <a:t>docs.kanaries.net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>
              <a:latin typeface="Tahoma"/>
              <a:cs typeface="Tahoma"/>
            </a:endParaRPr>
          </a:p>
          <a:p>
            <a:pPr marL="12700" marR="56515">
              <a:lnSpc>
                <a:spcPct val="164200"/>
              </a:lnSpc>
            </a:pPr>
            <a:r>
              <a:rPr dirty="0" sz="950" spc="5">
                <a:solidFill>
                  <a:srgbClr val="475568"/>
                </a:solidFill>
                <a:latin typeface="Tahoma"/>
                <a:cs typeface="Tahoma"/>
                <a:hlinkClick r:id="rId8"/>
              </a:rPr>
              <a:t>https://s3.mordorintelligence.com/global-</a:t>
            </a:r>
            <a:r>
              <a:rPr dirty="0" sz="950" spc="10">
                <a:solidFill>
                  <a:srgbClr val="475568"/>
                </a:solidFill>
                <a:latin typeface="Tahoma"/>
                <a:cs typeface="Tahoma"/>
                <a:hlinkClick r:id="rId8"/>
              </a:rPr>
              <a:t>business-analytics-market-industry/global-business-analytics-market-</a:t>
            </a:r>
            <a:r>
              <a:rPr dirty="0" sz="950" spc="15">
                <a:solidFill>
                  <a:srgbClr val="475568"/>
                </a:solidFill>
                <a:latin typeface="Tahoma"/>
                <a:cs typeface="Tahoma"/>
                <a:hlinkClick r:id="rId8"/>
              </a:rPr>
              <a:t>industry-</a:t>
            </a:r>
            <a:r>
              <a:rPr dirty="0" sz="950" spc="10">
                <a:solidFill>
                  <a:srgbClr val="475568"/>
                </a:solidFill>
                <a:latin typeface="Tahoma"/>
                <a:cs typeface="Tahoma"/>
                <a:hlinkClick r:id="rId8"/>
              </a:rPr>
              <a:t>Business-</a:t>
            </a:r>
            <a:r>
              <a:rPr dirty="0" sz="950" spc="30">
                <a:solidFill>
                  <a:srgbClr val="475568"/>
                </a:solidFill>
                <a:latin typeface="Tahoma"/>
                <a:cs typeface="Tahoma"/>
                <a:hlinkClick r:id="rId8"/>
              </a:rPr>
              <a:t>Analytics-</a:t>
            </a:r>
            <a:r>
              <a:rPr dirty="0" sz="950" spc="35">
                <a:solidFill>
                  <a:srgbClr val="475568"/>
                </a:solidFill>
                <a:latin typeface="Tahoma"/>
                <a:cs typeface="Tahoma"/>
                <a:hlinkClick r:id="rId8"/>
              </a:rPr>
              <a:t>Market-</a:t>
            </a:r>
            <a:r>
              <a:rPr dirty="0" sz="950" spc="30">
                <a:solidFill>
                  <a:srgbClr val="475568"/>
                </a:solidFill>
                <a:latin typeface="Tahoma"/>
                <a:cs typeface="Tahoma"/>
                <a:hlinkClick r:id="rId8"/>
              </a:rPr>
              <a:t>CAGR-</a:t>
            </a:r>
            <a:r>
              <a:rPr dirty="0" sz="950" spc="15">
                <a:solidFill>
                  <a:srgbClr val="475568"/>
                </a:solidFill>
                <a:latin typeface="Tahoma"/>
                <a:cs typeface="Tahoma"/>
                <a:hlinkClick r:id="rId8"/>
              </a:rPr>
              <a:t>-</a:t>
            </a:r>
            <a:r>
              <a:rPr dirty="0" sz="950" spc="20">
                <a:solidFill>
                  <a:srgbClr val="475568"/>
                </a:solidFill>
                <a:latin typeface="Tahoma"/>
                <a:cs typeface="Tahoma"/>
                <a:hlinkClick r:id="rId8"/>
              </a:rPr>
              <a:t>Growth-Rate-</a:t>
            </a:r>
            <a:r>
              <a:rPr dirty="0" sz="950" spc="10">
                <a:solidFill>
                  <a:srgbClr val="475568"/>
                </a:solidFill>
                <a:latin typeface="Tahoma"/>
                <a:cs typeface="Tahoma"/>
                <a:hlinkClick r:id="rId8"/>
              </a:rPr>
              <a:t>by-Region-</a:t>
            </a:r>
            <a:r>
              <a:rPr dirty="0" sz="950" spc="15">
                <a:solidFill>
                  <a:srgbClr val="475568"/>
                </a:solidFill>
                <a:latin typeface="Tahoma"/>
                <a:cs typeface="Tahoma"/>
                <a:hlinkClick r:id="rId8"/>
              </a:rPr>
              <a:t>2</a:t>
            </a:r>
            <a:r>
              <a:rPr dirty="0" sz="950" spc="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950" spc="30">
                <a:solidFill>
                  <a:srgbClr val="475568"/>
                </a:solidFill>
                <a:latin typeface="Tahoma"/>
                <a:cs typeface="Tahoma"/>
              </a:rPr>
              <a:t>026-</a:t>
            </a:r>
            <a:r>
              <a:rPr dirty="0" sz="950" spc="20">
                <a:solidFill>
                  <a:srgbClr val="475568"/>
                </a:solidFill>
                <a:latin typeface="Tahoma"/>
                <a:cs typeface="Tahoma"/>
              </a:rPr>
              <a:t>--</a:t>
            </a:r>
            <a:r>
              <a:rPr dirty="0" sz="950" spc="30">
                <a:solidFill>
                  <a:srgbClr val="475568"/>
                </a:solidFill>
                <a:latin typeface="Tahoma"/>
                <a:cs typeface="Tahoma"/>
              </a:rPr>
              <a:t>2031-1769098088713.webp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200" spc="-25">
                <a:solidFill>
                  <a:srgbClr val="475568"/>
                </a:solidFill>
                <a:latin typeface="Tahoma"/>
                <a:cs typeface="Tahoma"/>
              </a:rPr>
              <a:t>Source:</a:t>
            </a:r>
            <a:r>
              <a:rPr dirty="0" sz="1200" spc="-9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Tahoma"/>
                <a:cs typeface="Tahoma"/>
                <a:hlinkClick r:id="rId9"/>
              </a:rPr>
              <a:t>www.mordorintelligence.com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950">
                <a:solidFill>
                  <a:srgbClr val="475568"/>
                </a:solidFill>
                <a:latin typeface="Tahoma"/>
                <a:cs typeface="Tahoma"/>
                <a:hlinkClick r:id="rId10"/>
              </a:rPr>
              <a:t>https://freerangestock.com/sample/162660/focused-team-analyzing-data-on-</a:t>
            </a:r>
            <a:r>
              <a:rPr dirty="0" sz="950" spc="-10">
                <a:solidFill>
                  <a:srgbClr val="475568"/>
                </a:solidFill>
                <a:latin typeface="Tahoma"/>
                <a:cs typeface="Tahoma"/>
                <a:hlinkClick r:id="rId10"/>
              </a:rPr>
              <a:t>laptop.jpg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dirty="0" sz="1200" spc="-25">
                <a:solidFill>
                  <a:srgbClr val="475568"/>
                </a:solidFill>
                <a:latin typeface="Tahoma"/>
                <a:cs typeface="Tahoma"/>
              </a:rPr>
              <a:t>Source:</a:t>
            </a:r>
            <a:r>
              <a:rPr dirty="0" sz="1200" spc="-95">
                <a:solidFill>
                  <a:srgbClr val="475568"/>
                </a:solidFill>
                <a:latin typeface="Tahoma"/>
                <a:cs typeface="Tahoma"/>
              </a:rPr>
              <a:t> </a:t>
            </a:r>
            <a:r>
              <a:rPr dirty="0" sz="1200" spc="-10">
                <a:solidFill>
                  <a:srgbClr val="4F46E4"/>
                </a:solidFill>
                <a:latin typeface="Tahoma"/>
                <a:cs typeface="Tahoma"/>
              </a:rPr>
              <a:t>freerangestock.com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Retail Analysis Using PySpark</dc:title>
  <dcterms:created xsi:type="dcterms:W3CDTF">2026-10-04T21:52:59Z</dcterms:created>
  <dcterms:modified xsi:type="dcterms:W3CDTF">2026-10-04T21:52:59Z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2026-10-04T00:00:00Z</vt:filetime>
  </property>
  <property fmtid="{D5CDD505-2E9C-101B-9397-08002B2CF9AE}" pid="4" name="Creator">
    <vt:lpwstr>Google</vt:lpwstr>
  </property>
  <property fmtid="{D5CDD505-2E9C-101B-9397-08002B2CF9AE}" pid="5" name="LastSaved">
    <vt:filetime>2026-10-04T00:00:00Z</vt:filetime>
  </property>
</Properties>
</file>